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262" r:id="rId3"/>
    <p:sldId id="264" r:id="rId4"/>
    <p:sldId id="265" r:id="rId5"/>
    <p:sldId id="266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7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charset="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charset="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charset="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charset="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charset="0"/>
              <a:buNone/>
              <a:defRPr sz="33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charset="0"/>
              <a:buChar char="•"/>
              <a:defRPr sz="21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charset="0"/>
              <a:buChar char="•"/>
              <a:defRPr sz="18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charset="0"/>
              <a:buChar char="•"/>
              <a:defRPr sz="15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8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extLst>
              <a:ext uri="{FF2B5EF4-FFF2-40B4-BE49-F238E27FC236}">
                <a16:creationId xmlns:a16="http://schemas.microsoft.com/office/drawing/2014/main" id="{D5C81EE5-8B18-B443-A2F6-1AF4FED504C0}"/>
              </a:ext>
            </a:extLst>
          </p:cNvPr>
          <p:cNvSpPr/>
          <p:nvPr/>
        </p:nvSpPr>
        <p:spPr>
          <a:xfrm>
            <a:off x="783902" y="1503162"/>
            <a:ext cx="2994158" cy="4404847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A1FF3EAD-A0E6-DDF9-B3BE-E211984C824F}"/>
              </a:ext>
            </a:extLst>
          </p:cNvPr>
          <p:cNvSpPr/>
          <p:nvPr/>
        </p:nvSpPr>
        <p:spPr>
          <a:xfrm>
            <a:off x="4511770" y="1503161"/>
            <a:ext cx="2994158" cy="4404847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3FFACD56-FB78-F14A-430F-0000758B76BE}"/>
              </a:ext>
            </a:extLst>
          </p:cNvPr>
          <p:cNvSpPr/>
          <p:nvPr/>
        </p:nvSpPr>
        <p:spPr>
          <a:xfrm>
            <a:off x="8317208" y="1503160"/>
            <a:ext cx="2994158" cy="4404847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65E03C9E-A928-9557-072F-24BB33E36B17}"/>
              </a:ext>
            </a:extLst>
          </p:cNvPr>
          <p:cNvSpPr/>
          <p:nvPr/>
        </p:nvSpPr>
        <p:spPr>
          <a:xfrm flipV="1">
            <a:off x="783902" y="1368863"/>
            <a:ext cx="2994158" cy="113978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F1D0AFC-02DB-6FCD-DC6A-EC2ACB2E2200}"/>
              </a:ext>
            </a:extLst>
          </p:cNvPr>
          <p:cNvSpPr/>
          <p:nvPr/>
        </p:nvSpPr>
        <p:spPr>
          <a:xfrm flipV="1">
            <a:off x="4511770" y="1368863"/>
            <a:ext cx="2994158" cy="113978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DD46C3B3-B2C8-7500-3E4F-F0147B15264E}"/>
              </a:ext>
            </a:extLst>
          </p:cNvPr>
          <p:cNvSpPr/>
          <p:nvPr/>
        </p:nvSpPr>
        <p:spPr>
          <a:xfrm flipV="1">
            <a:off x="8317208" y="1368863"/>
            <a:ext cx="2994158" cy="113978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8" name="Connector 9">
            <a:extLst>
              <a:ext uri="{FF2B5EF4-FFF2-40B4-BE49-F238E27FC236}">
                <a16:creationId xmlns:a16="http://schemas.microsoft.com/office/drawing/2014/main" id="{01D1607F-006C-1208-585A-E91E7043A18C}"/>
              </a:ext>
            </a:extLst>
          </p:cNvPr>
          <p:cNvCxnSpPr>
            <a:cxnSpLocks/>
          </p:cNvCxnSpPr>
          <p:nvPr/>
        </p:nvCxnSpPr>
        <p:spPr>
          <a:xfrm>
            <a:off x="783901" y="2160064"/>
            <a:ext cx="299415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27255E1F-A647-521B-7318-CA24FFBD7FF8}"/>
              </a:ext>
            </a:extLst>
          </p:cNvPr>
          <p:cNvCxnSpPr>
            <a:cxnSpLocks/>
          </p:cNvCxnSpPr>
          <p:nvPr/>
        </p:nvCxnSpPr>
        <p:spPr>
          <a:xfrm>
            <a:off x="4511770" y="2160064"/>
            <a:ext cx="299415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Connector 9">
            <a:extLst>
              <a:ext uri="{FF2B5EF4-FFF2-40B4-BE49-F238E27FC236}">
                <a16:creationId xmlns:a16="http://schemas.microsoft.com/office/drawing/2014/main" id="{30022238-8767-B586-9AA0-557FDE9E5853}"/>
              </a:ext>
            </a:extLst>
          </p:cNvPr>
          <p:cNvCxnSpPr>
            <a:cxnSpLocks/>
          </p:cNvCxnSpPr>
          <p:nvPr/>
        </p:nvCxnSpPr>
        <p:spPr>
          <a:xfrm>
            <a:off x="8317207" y="2167364"/>
            <a:ext cx="299415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D188A92-1858-C6C4-51CB-3A7A8FE2F35D}"/>
              </a:ext>
            </a:extLst>
          </p:cNvPr>
          <p:cNvSpPr txBox="1"/>
          <p:nvPr/>
        </p:nvSpPr>
        <p:spPr>
          <a:xfrm>
            <a:off x="729604" y="469511"/>
            <a:ext cx="6096912" cy="651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企业经营环境分析</a:t>
            </a:r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A6AE9B-4791-8011-1806-A4BB20AFA3D0}"/>
              </a:ext>
            </a:extLst>
          </p:cNvPr>
          <p:cNvSpPr txBox="1"/>
          <p:nvPr/>
        </p:nvSpPr>
        <p:spPr>
          <a:xfrm>
            <a:off x="880634" y="1721487"/>
            <a:ext cx="1847189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baseline="300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宏观环境</a:t>
            </a:r>
            <a:endParaRPr lang="en-US" altLang="zh-CN" sz="2000" baseline="30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0EFF1F-206F-4EE9-AEAB-9DC1A8F5D64A}"/>
              </a:ext>
            </a:extLst>
          </p:cNvPr>
          <p:cNvSpPr txBox="1"/>
          <p:nvPr/>
        </p:nvSpPr>
        <p:spPr>
          <a:xfrm>
            <a:off x="4603898" y="1741807"/>
            <a:ext cx="2530549" cy="636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baseline="300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区域环境</a:t>
            </a:r>
            <a:endParaRPr lang="en-US" altLang="zh-CN" sz="3200" baseline="30000" dirty="0"/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5E8A76-DBD2-66C6-608A-7DC895726D24}"/>
              </a:ext>
            </a:extLst>
          </p:cNvPr>
          <p:cNvSpPr txBox="1"/>
          <p:nvPr/>
        </p:nvSpPr>
        <p:spPr>
          <a:xfrm>
            <a:off x="8378456" y="1743576"/>
            <a:ext cx="2286000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baseline="30000" dirty="0">
                <a:solidFill>
                  <a:srgbClr val="374151"/>
                </a:solidFill>
                <a:latin typeface="Noto Sans SC"/>
                <a:ea typeface="Noto Sans SC"/>
              </a:rPr>
              <a:t>行业情况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E0C098-A4B5-90A4-2AF9-C9E4D322D039}"/>
              </a:ext>
            </a:extLst>
          </p:cNvPr>
          <p:cNvSpPr txBox="1"/>
          <p:nvPr/>
        </p:nvSpPr>
        <p:spPr>
          <a:xfrm>
            <a:off x="931256" y="2377879"/>
            <a:ext cx="238700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优势：</a:t>
            </a:r>
            <a:r>
              <a:rPr lang="en-US" altLang="zh-CN" dirty="0"/>
              <a:t> </a:t>
            </a:r>
            <a:r>
              <a:rPr lang="zh-CN" altLang="en-US" dirty="0"/>
              <a:t>居民收入增</a:t>
            </a:r>
            <a:r>
              <a:rPr lang="en-US" altLang="zh-CN" dirty="0"/>
              <a:t>5.3%</a:t>
            </a:r>
            <a:r>
              <a:rPr lang="zh-CN" altLang="en-US" dirty="0"/>
              <a:t>，宠物消费增</a:t>
            </a:r>
            <a:r>
              <a:rPr lang="en-US" altLang="zh-CN" dirty="0"/>
              <a:t>10.8%</a:t>
            </a:r>
            <a:r>
              <a:rPr lang="zh-CN" altLang="en-US" dirty="0"/>
              <a:t>，韧性高于</a:t>
            </a:r>
            <a:r>
              <a:rPr lang="en-US" altLang="zh-CN" dirty="0"/>
              <a:t>GDP</a:t>
            </a:r>
            <a:r>
              <a:rPr lang="zh-CN" altLang="en-US" dirty="0"/>
              <a:t>；若收入增速跌破</a:t>
            </a:r>
            <a:r>
              <a:rPr lang="en-US" altLang="zh-CN" dirty="0"/>
              <a:t>3%</a:t>
            </a:r>
            <a:r>
              <a:rPr lang="zh-CN" altLang="en-US" dirty="0"/>
              <a:t>，高端粮有降级风险。</a:t>
            </a:r>
          </a:p>
          <a:p>
            <a:r>
              <a:rPr lang="zh-CN" altLang="en-US" dirty="0"/>
              <a:t>风险：</a:t>
            </a:r>
            <a:r>
              <a:rPr lang="en-US" altLang="zh-CN" dirty="0"/>
              <a:t> 2025</a:t>
            </a:r>
            <a:r>
              <a:rPr lang="zh-CN" altLang="en-US" dirty="0"/>
              <a:t>年对美出口额</a:t>
            </a:r>
            <a:r>
              <a:rPr lang="en-US" altLang="zh-CN" dirty="0"/>
              <a:t>-29.7%</a:t>
            </a:r>
            <a:r>
              <a:rPr lang="zh-CN" altLang="en-US" dirty="0"/>
              <a:t>，关税政策反复；下半年两节点（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122</a:t>
            </a:r>
            <a:r>
              <a:rPr lang="zh-CN" altLang="en-US" dirty="0"/>
              <a:t>条款、</a:t>
            </a:r>
            <a:r>
              <a:rPr lang="en-US" altLang="zh-CN" dirty="0"/>
              <a:t>11</a:t>
            </a:r>
            <a:r>
              <a:rPr lang="zh-CN" altLang="en-US" dirty="0"/>
              <a:t>月对等关税）是关键风险窗。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DC5CBA-E9EB-4606-9F0F-AF8803C8246E}"/>
              </a:ext>
            </a:extLst>
          </p:cNvPr>
          <p:cNvSpPr txBox="1"/>
          <p:nvPr/>
        </p:nvSpPr>
        <p:spPr>
          <a:xfrm>
            <a:off x="4676034" y="2425624"/>
            <a:ext cx="25844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风险：</a:t>
            </a:r>
            <a:endParaRPr lang="en-US" altLang="zh-CN" dirty="0"/>
          </a:p>
          <a:p>
            <a:r>
              <a:rPr lang="zh-CN" altLang="en-US" dirty="0"/>
              <a:t>产能全集中于聊城，禽流感或区域政策变动可导致集中停产，风险中等。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泰国为唯已投产海外基地，美国对其加征</a:t>
            </a:r>
            <a:r>
              <a:rPr lang="en-US" altLang="zh-CN" dirty="0"/>
              <a:t>19%~36%</a:t>
            </a:r>
            <a:r>
              <a:rPr lang="zh-CN" altLang="en-US" dirty="0"/>
              <a:t>关税；新西兰</a:t>
            </a:r>
            <a:r>
              <a:rPr lang="en-US" altLang="zh-CN" dirty="0"/>
              <a:t>2029</a:t>
            </a:r>
            <a:r>
              <a:rPr lang="zh-CN" altLang="en-US" dirty="0"/>
              <a:t>年前无法贡献产能。</a:t>
            </a:r>
          </a:p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D68434-5D6E-CCB4-7EE0-5FD52184D651}"/>
              </a:ext>
            </a:extLst>
          </p:cNvPr>
          <p:cNvSpPr txBox="1"/>
          <p:nvPr/>
        </p:nvSpPr>
        <p:spPr>
          <a:xfrm>
            <a:off x="8454092" y="2305615"/>
            <a:ext cx="26555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CR5</a:t>
            </a:r>
            <a:r>
              <a:rPr lang="zh-CN" altLang="en-US" dirty="0"/>
              <a:t>不足</a:t>
            </a:r>
            <a:r>
              <a:rPr lang="en-US" altLang="zh-CN" dirty="0"/>
              <a:t>15%</a:t>
            </a:r>
            <a:r>
              <a:rPr lang="zh-CN" altLang="en-US" dirty="0"/>
              <a:t>，新品牌流量投放门槛低，价格战加剧；但龙头多品牌先发优势正转化为壁垒。</a:t>
            </a:r>
          </a:p>
          <a:p>
            <a:r>
              <a:rPr lang="zh-CN" altLang="en-US" dirty="0"/>
              <a:t>前五供应商集中度仅</a:t>
            </a:r>
            <a:r>
              <a:rPr lang="en-US" altLang="zh-CN" dirty="0"/>
              <a:t>18%</a:t>
            </a:r>
            <a:r>
              <a:rPr lang="zh-CN" altLang="en-US" dirty="0"/>
              <a:t>，鸡肉自供</a:t>
            </a:r>
            <a:r>
              <a:rPr lang="en-US" altLang="zh-CN" dirty="0"/>
              <a:t>30%+</a:t>
            </a:r>
            <a:r>
              <a:rPr lang="zh-CN" altLang="en-US" dirty="0"/>
              <a:t>长约保价，风险可控但短周期波动难以完全传导。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监管趋严利好龙头（麦富迪份额</a:t>
            </a:r>
            <a:r>
              <a:rPr lang="en-US" altLang="zh-CN" dirty="0"/>
              <a:t>6.2%</a:t>
            </a:r>
            <a:r>
              <a:rPr lang="zh-CN" altLang="en-US" dirty="0"/>
              <a:t>，国内第一），中小企业合规成本上升被动出清。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D1ED0ED-C40A-B578-45F5-B2DD6603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203" y="4571544"/>
            <a:ext cx="2948860" cy="90689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AB42783-C375-2B7B-C0AB-481516665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207" y="4704896"/>
            <a:ext cx="2994159" cy="103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74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DE214E9-F159-7E1D-515D-1BD375C00180}"/>
              </a:ext>
            </a:extLst>
          </p:cNvPr>
          <p:cNvSpPr txBox="1"/>
          <p:nvPr/>
        </p:nvSpPr>
        <p:spPr>
          <a:xfrm>
            <a:off x="915729" y="575899"/>
            <a:ext cx="6095114" cy="651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企业竞争力</a:t>
            </a:r>
            <a:r>
              <a:rPr lang="en-US" altLang="zh-CN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研发能力</a:t>
            </a:r>
            <a:endParaRPr lang="en-US" altLang="zh-CN" sz="3200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1AA9A5C-A4C8-1719-4639-33D5BB3E2825}"/>
              </a:ext>
            </a:extLst>
          </p:cNvPr>
          <p:cNvSpPr/>
          <p:nvPr/>
        </p:nvSpPr>
        <p:spPr>
          <a:xfrm>
            <a:off x="762000" y="1524000"/>
            <a:ext cx="3492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7BCAEF-D26D-A902-B1D1-AD2C1E4A1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55" b="8855"/>
          <a:stretch>
            <a:fillRect/>
          </a:stretch>
        </p:blipFill>
        <p:spPr>
          <a:xfrm>
            <a:off x="889000" y="1714500"/>
            <a:ext cx="32385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10">
            <a:extLst>
              <a:ext uri="{FF2B5EF4-FFF2-40B4-BE49-F238E27FC236}">
                <a16:creationId xmlns:a16="http://schemas.microsoft.com/office/drawing/2014/main" id="{B45FEEAE-4FCD-A705-8DD8-2CD0A4247079}"/>
              </a:ext>
            </a:extLst>
          </p:cNvPr>
          <p:cNvSpPr/>
          <p:nvPr/>
        </p:nvSpPr>
        <p:spPr>
          <a:xfrm>
            <a:off x="4445000" y="1524000"/>
            <a:ext cx="3492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6144FF15-179F-E6A3-88DC-DFF3F08E1EF7}"/>
              </a:ext>
            </a:extLst>
          </p:cNvPr>
          <p:cNvSpPr/>
          <p:nvPr/>
        </p:nvSpPr>
        <p:spPr>
          <a:xfrm>
            <a:off x="4445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9" name="AutoShape 19">
            <a:extLst>
              <a:ext uri="{FF2B5EF4-FFF2-40B4-BE49-F238E27FC236}">
                <a16:creationId xmlns:a16="http://schemas.microsoft.com/office/drawing/2014/main" id="{3ED14CC1-84C2-6658-16C8-7834819B4893}"/>
              </a:ext>
            </a:extLst>
          </p:cNvPr>
          <p:cNvSpPr/>
          <p:nvPr/>
        </p:nvSpPr>
        <p:spPr>
          <a:xfrm>
            <a:off x="8096398" y="1524000"/>
            <a:ext cx="3492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 dirty="0"/>
          </a:p>
        </p:txBody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2F9CABA7-52FF-434D-68EF-AC6FAF8E208F}"/>
              </a:ext>
            </a:extLst>
          </p:cNvPr>
          <p:cNvSpPr/>
          <p:nvPr/>
        </p:nvSpPr>
        <p:spPr>
          <a:xfrm>
            <a:off x="8128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F1A5F6-4312-D104-7251-4AD612C4D2C6}"/>
              </a:ext>
            </a:extLst>
          </p:cNvPr>
          <p:cNvSpPr txBox="1"/>
          <p:nvPr/>
        </p:nvSpPr>
        <p:spPr>
          <a:xfrm>
            <a:off x="915729" y="3621209"/>
            <a:ext cx="6095114" cy="4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有形</a:t>
            </a:r>
            <a:r>
              <a:rPr lang="zh-CN" alt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资源</a:t>
            </a:r>
            <a:r>
              <a:rPr lang="en-US" altLang="zh-CN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与产能</a:t>
            </a:r>
            <a:endParaRPr lang="en-US" altLang="zh-CN" sz="1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716174-EF11-794D-302F-5E46BC4349B3}"/>
              </a:ext>
            </a:extLst>
          </p:cNvPr>
          <p:cNvSpPr txBox="1"/>
          <p:nvPr/>
        </p:nvSpPr>
        <p:spPr>
          <a:xfrm>
            <a:off x="915729" y="4078192"/>
            <a:ext cx="2690037" cy="147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8000"/>
              </a:lnSpc>
              <a:defRPr/>
            </a:pPr>
            <a:r>
              <a:rPr lang="en-US" altLang="zh-CN" b="1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全球化双基地布局</a:t>
            </a:r>
            <a:br>
              <a:rPr lang="en-US" altLang="zh-CN" sz="18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拥有山东聊城与泰国两大核心生产基地</a:t>
            </a:r>
            <a:endParaRPr lang="en-US" altLang="zh-CN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000"/>
              </a:lnSpc>
              <a:defRPr/>
            </a:pPr>
            <a:r>
              <a:rPr lang="en-US" altLang="zh-CN" b="1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CNAS权威认证实验室</a:t>
            </a:r>
            <a:br>
              <a:rPr lang="en-US" altLang="zh-CN" sz="18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国内宠物食品行业少数几家拥有 </a:t>
            </a:r>
            <a:r>
              <a:rPr lang="en-US" altLang="zh-CN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CNAS </a:t>
            </a: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检测实验室的公司之一。</a:t>
            </a:r>
            <a:endParaRPr lang="en-US" altLang="zh-CN" dirty="0"/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ABA8F7AC-F960-A209-61D3-416A919628BF}"/>
              </a:ext>
            </a:extLst>
          </p:cNvPr>
          <p:cNvSpPr/>
          <p:nvPr/>
        </p:nvSpPr>
        <p:spPr>
          <a:xfrm>
            <a:off x="4603898" y="2130551"/>
            <a:ext cx="3238500" cy="1270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F9ACA4-DCE5-8E9A-9E71-E5F6ED2C02BD}"/>
              </a:ext>
            </a:extLst>
          </p:cNvPr>
          <p:cNvSpPr txBox="1"/>
          <p:nvPr/>
        </p:nvSpPr>
        <p:spPr>
          <a:xfrm>
            <a:off x="4603898" y="1839433"/>
            <a:ext cx="3195083" cy="367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无形资</a:t>
            </a:r>
            <a:r>
              <a:rPr lang="zh-CN" altLang="en-US" sz="18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源</a:t>
            </a:r>
            <a:endParaRPr lang="en-US" altLang="zh-CN" dirty="0"/>
          </a:p>
          <a:p>
            <a:pPr>
              <a:lnSpc>
                <a:spcPct val="108000"/>
              </a:lnSpc>
              <a:defRPr/>
            </a:pPr>
            <a:r>
              <a:rPr lang="zh-CN" altLang="en-US" b="1" dirty="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品牌：</a:t>
            </a:r>
            <a:r>
              <a:rPr lang="en-US" altLang="zh-CN" b="1" dirty="0" err="1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双品牌战略领跑市场</a:t>
            </a:r>
            <a:br>
              <a:rPr lang="en-US" altLang="zh-CN" sz="18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“麦富迪”稳居天猫宠物食品类目TOP1，弗列加特占据高端猫粮头部位置，双品牌协同覆盖主流与高端消费需求</a:t>
            </a:r>
            <a:r>
              <a:rPr lang="zh-CN" alt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dirty="0"/>
          </a:p>
          <a:p>
            <a:pPr>
              <a:lnSpc>
                <a:spcPct val="108000"/>
              </a:lnSpc>
              <a:defRPr/>
            </a:pPr>
            <a:r>
              <a:rPr lang="zh-CN" altLang="en-US" b="1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企业文化</a:t>
            </a:r>
            <a:endParaRPr lang="en-US" altLang="zh-CN" b="1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000"/>
              </a:lnSpc>
              <a:defRPr/>
            </a:pP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公司重视新员工在企业文化的融入，通过一系列的文化导入、团队建设、价值观游戏等措施，帮助新员工尽 快融入公司文化，提升团队凝聚力</a:t>
            </a:r>
            <a:r>
              <a:rPr lang="en-US" altLang="zh-CN" dirty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.</a:t>
            </a:r>
            <a:br>
              <a:rPr lang="en-US" altLang="zh-CN" sz="18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altLang="zh-CN" dirty="0"/>
          </a:p>
          <a:p>
            <a:pPr>
              <a:lnSpc>
                <a:spcPct val="108000"/>
              </a:lnSpc>
              <a:defRPr/>
            </a:pPr>
            <a:r>
              <a:rPr lang="en-US" altLang="zh-CN" b="1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数字化核心资产</a:t>
            </a:r>
            <a:br>
              <a:rPr lang="en-US" altLang="zh-CN" sz="18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搭建消费者数据资产平台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" name="AutoShape 22">
            <a:extLst>
              <a:ext uri="{FF2B5EF4-FFF2-40B4-BE49-F238E27FC236}">
                <a16:creationId xmlns:a16="http://schemas.microsoft.com/office/drawing/2014/main" id="{1413C174-FAE5-A0E1-7CC1-DCF6EB792EA9}"/>
              </a:ext>
            </a:extLst>
          </p:cNvPr>
          <p:cNvSpPr/>
          <p:nvPr/>
        </p:nvSpPr>
        <p:spPr>
          <a:xfrm>
            <a:off x="8270949" y="1968500"/>
            <a:ext cx="3238500" cy="1679004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D4E12-1F65-8BEF-D49E-DADB5B25BCA5}"/>
              </a:ext>
            </a:extLst>
          </p:cNvPr>
          <p:cNvSpPr txBox="1"/>
          <p:nvPr/>
        </p:nvSpPr>
        <p:spPr>
          <a:xfrm>
            <a:off x="8245549" y="1887279"/>
            <a:ext cx="3184451" cy="1760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资金资源储备</a:t>
            </a:r>
            <a:endParaRPr lang="en-US" altLang="zh-CN"/>
          </a:p>
          <a:p>
            <a:r>
              <a:rPr lang="en-US" altLang="zh-CN" b="1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上市资本赋能扩张</a:t>
            </a:r>
            <a:br>
              <a:rPr lang="en-US" altLang="zh-CN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2023年</a:t>
            </a:r>
            <a:r>
              <a:rPr lang="zh-CN" altLang="en-US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上市后</a:t>
            </a:r>
            <a:r>
              <a:rPr lang="en-US" altLang="zh-CN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，企业资本结构显著优化，充裕的现金流为产能扩建、海外市场拓展以及产业链上下游的战略并购提供了充足的资金弹药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b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强劲的内生造血能力</a:t>
            </a:r>
            <a:endParaRPr lang="en-US" altLang="zh-CN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17705F-78D8-514C-C0AD-E1CC2FAE707D}"/>
              </a:ext>
            </a:extLst>
          </p:cNvPr>
          <p:cNvSpPr txBox="1"/>
          <p:nvPr/>
        </p:nvSpPr>
        <p:spPr>
          <a:xfrm>
            <a:off x="8351874" y="3859619"/>
            <a:ext cx="2924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强劲的内生造血能力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2272263-D18A-362E-46B4-89B6484FD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760" y="4121229"/>
            <a:ext cx="3386138" cy="88377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7A10EFE-3DD2-54FF-5F9B-FDC24A7DC249}"/>
              </a:ext>
            </a:extLst>
          </p:cNvPr>
          <p:cNvSpPr txBox="1"/>
          <p:nvPr/>
        </p:nvSpPr>
        <p:spPr>
          <a:xfrm>
            <a:off x="8270949" y="5199321"/>
            <a:ext cx="33179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持续盈利与稳健的现金流，为企业长期战略落地提供了坚实的财务安全垫</a:t>
            </a:r>
            <a:r>
              <a:rPr lang="en-US" altLang="zh-CN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068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85FA9B5-7B01-804F-B9CB-F7B23E1E9244}"/>
              </a:ext>
            </a:extLst>
          </p:cNvPr>
          <p:cNvSpPr txBox="1"/>
          <p:nvPr/>
        </p:nvSpPr>
        <p:spPr>
          <a:xfrm>
            <a:off x="713711" y="482568"/>
            <a:ext cx="6095114" cy="651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企业竞争力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生产能力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811E1E1F-B3F6-375D-81F0-1D863BB17CF3}"/>
              </a:ext>
            </a:extLst>
          </p:cNvPr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6FEFA4C-8B78-5EA5-CCDA-B90FA661B8D7}"/>
              </a:ext>
            </a:extLst>
          </p:cNvPr>
          <p:cNvSpPr/>
          <p:nvPr/>
        </p:nvSpPr>
        <p:spPr>
          <a:xfrm>
            <a:off x="762000" y="1412875"/>
            <a:ext cx="5270500" cy="4953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88C4677B-DBB9-68D3-322E-2F68D49293EB}"/>
              </a:ext>
            </a:extLst>
          </p:cNvPr>
          <p:cNvSpPr/>
          <p:nvPr/>
        </p:nvSpPr>
        <p:spPr>
          <a:xfrm>
            <a:off x="762000" y="1354903"/>
            <a:ext cx="5270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8A1E43BF-EED1-0F62-B6F5-130E432A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22" r="6922"/>
          <a:stretch>
            <a:fillRect/>
          </a:stretch>
        </p:blipFill>
        <p:spPr>
          <a:xfrm>
            <a:off x="952500" y="1778000"/>
            <a:ext cx="19685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7">
            <a:extLst>
              <a:ext uri="{FF2B5EF4-FFF2-40B4-BE49-F238E27FC236}">
                <a16:creationId xmlns:a16="http://schemas.microsoft.com/office/drawing/2014/main" id="{4E4F5993-10F1-D3ED-CA8F-FE742DC40B01}"/>
              </a:ext>
            </a:extLst>
          </p:cNvPr>
          <p:cNvSpPr/>
          <p:nvPr/>
        </p:nvSpPr>
        <p:spPr>
          <a:xfrm>
            <a:off x="3111500" y="1609725"/>
            <a:ext cx="2794000" cy="1524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9504D16D-C8E2-1DDF-01C9-261E8D1653C2}"/>
              </a:ext>
            </a:extLst>
          </p:cNvPr>
          <p:cNvSpPr/>
          <p:nvPr/>
        </p:nvSpPr>
        <p:spPr>
          <a:xfrm>
            <a:off x="3175000" y="1645920"/>
            <a:ext cx="1333500" cy="817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&gt;20%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eaLnBrk="1" fontAlgn="auto" latinLnBrk="0" hangingPunct="1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研发投入年复合增长</a:t>
            </a: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FD919CC9-3393-6249-505B-728E59700724}"/>
              </a:ext>
            </a:extLst>
          </p:cNvPr>
          <p:cNvCxnSpPr/>
          <p:nvPr/>
        </p:nvCxnSpPr>
        <p:spPr>
          <a:xfrm rot="5336345">
            <a:off x="4229100" y="2216209"/>
            <a:ext cx="68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0">
            <a:extLst>
              <a:ext uri="{FF2B5EF4-FFF2-40B4-BE49-F238E27FC236}">
                <a16:creationId xmlns:a16="http://schemas.microsoft.com/office/drawing/2014/main" id="{D0D5FC6B-107B-E9FD-583B-8C2CA0C0292D}"/>
              </a:ext>
            </a:extLst>
          </p:cNvPr>
          <p:cNvSpPr/>
          <p:nvPr/>
        </p:nvSpPr>
        <p:spPr>
          <a:xfrm>
            <a:off x="4789805" y="1553845"/>
            <a:ext cx="1355725" cy="986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341项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eaLnBrk="1" fontAlgn="auto" latinLnBrk="0" hangingPunct="1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累计有效</a:t>
            </a: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latinLnBrk="0" hangingPunct="1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专利数</a:t>
            </a: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18057A6C-90E7-CB81-77C2-7171BF8F1A93}"/>
              </a:ext>
            </a:extLst>
          </p:cNvPr>
          <p:cNvSpPr/>
          <p:nvPr/>
        </p:nvSpPr>
        <p:spPr>
          <a:xfrm>
            <a:off x="3083759" y="2545080"/>
            <a:ext cx="2842895" cy="8204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设立多地联合研发中心</a:t>
            </a:r>
            <a:r>
              <a:rPr lang="en-US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</a:p>
          <a:p>
            <a:pPr>
              <a:defRPr/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CNAS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认可实验室与大数据中心</a:t>
            </a:r>
            <a:endParaRPr lang="zh-CN" altLang="en-US" sz="1600" dirty="0" err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C1FED073-F0F9-B3CC-F10D-942AA73831A6}"/>
              </a:ext>
            </a:extLst>
          </p:cNvPr>
          <p:cNvSpPr/>
          <p:nvPr/>
        </p:nvSpPr>
        <p:spPr>
          <a:xfrm>
            <a:off x="952500" y="3492500"/>
            <a:ext cx="4927600" cy="744856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自有品牌占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73%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），毛利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+20pp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代工提供基础产能，贸易恶化时内销对冲外销下滑。</a:t>
            </a: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9D6A3227-50FF-E7A2-0EE1-07D70D0998AD}"/>
              </a:ext>
            </a:extLst>
          </p:cNvPr>
          <p:cNvSpPr/>
          <p:nvPr/>
        </p:nvSpPr>
        <p:spPr>
          <a:xfrm>
            <a:off x="1104900" y="3364865"/>
            <a:ext cx="1498600" cy="508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20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B0469FED-E749-43C1-E8E8-5F7F6CF1712C}"/>
              </a:ext>
            </a:extLst>
          </p:cNvPr>
          <p:cNvSpPr/>
          <p:nvPr/>
        </p:nvSpPr>
        <p:spPr>
          <a:xfrm>
            <a:off x="1016000" y="3869055"/>
            <a:ext cx="1498600" cy="1428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6">
            <a:extLst>
              <a:ext uri="{FF2B5EF4-FFF2-40B4-BE49-F238E27FC236}">
                <a16:creationId xmlns:a16="http://schemas.microsoft.com/office/drawing/2014/main" id="{8EA03F0C-B1AB-EDA9-5CDE-48668AD93455}"/>
              </a:ext>
            </a:extLst>
          </p:cNvPr>
          <p:cNvSpPr/>
          <p:nvPr/>
        </p:nvSpPr>
        <p:spPr>
          <a:xfrm>
            <a:off x="2651760" y="3302635"/>
            <a:ext cx="1701800" cy="634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20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6AA48102-3411-C14F-85B8-AF152EC65227}"/>
              </a:ext>
            </a:extLst>
          </p:cNvPr>
          <p:cNvSpPr/>
          <p:nvPr/>
        </p:nvSpPr>
        <p:spPr>
          <a:xfrm>
            <a:off x="2644775" y="3677523"/>
            <a:ext cx="1667510" cy="1767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22" name="AutoShape 19">
            <a:extLst>
              <a:ext uri="{FF2B5EF4-FFF2-40B4-BE49-F238E27FC236}">
                <a16:creationId xmlns:a16="http://schemas.microsoft.com/office/drawing/2014/main" id="{1490F689-1A8B-CC64-E3BB-ABF8EB93FE91}"/>
              </a:ext>
            </a:extLst>
          </p:cNvPr>
          <p:cNvSpPr/>
          <p:nvPr/>
        </p:nvSpPr>
        <p:spPr>
          <a:xfrm>
            <a:off x="4490085" y="3302635"/>
            <a:ext cx="1390015" cy="634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 panose="020B0200000000000000" charset="-122"/>
            </a:endParaRPr>
          </a:p>
        </p:txBody>
      </p:sp>
      <p:sp>
        <p:nvSpPr>
          <p:cNvPr id="23" name="AutoShape 20">
            <a:extLst>
              <a:ext uri="{FF2B5EF4-FFF2-40B4-BE49-F238E27FC236}">
                <a16:creationId xmlns:a16="http://schemas.microsoft.com/office/drawing/2014/main" id="{9C07F006-18D6-F94B-9A2F-1F64BC73942C}"/>
              </a:ext>
            </a:extLst>
          </p:cNvPr>
          <p:cNvSpPr/>
          <p:nvPr/>
        </p:nvSpPr>
        <p:spPr>
          <a:xfrm>
            <a:off x="4419599" y="3918585"/>
            <a:ext cx="1587499" cy="1224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952DE76-8EE3-CE1B-AA2E-B2DA744DFB58}"/>
              </a:ext>
            </a:extLst>
          </p:cNvPr>
          <p:cNvSpPr/>
          <p:nvPr/>
        </p:nvSpPr>
        <p:spPr>
          <a:xfrm>
            <a:off x="958850" y="5086761"/>
            <a:ext cx="4953000" cy="957977"/>
          </a:xfrm>
          <a:prstGeom prst="roundRect">
            <a:avLst>
              <a:gd name="adj" fmla="val 0"/>
            </a:avLst>
          </a:prstGeom>
          <a:solidFill>
            <a:srgbClr val="FFEDD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2">
            <a:extLst>
              <a:ext uri="{FF2B5EF4-FFF2-40B4-BE49-F238E27FC236}">
                <a16:creationId xmlns:a16="http://schemas.microsoft.com/office/drawing/2014/main" id="{4E243B97-5907-DC5D-B7F2-BC42E14A916E}"/>
              </a:ext>
            </a:extLst>
          </p:cNvPr>
          <p:cNvSpPr/>
          <p:nvPr/>
        </p:nvSpPr>
        <p:spPr>
          <a:xfrm>
            <a:off x="1100455" y="4512310"/>
            <a:ext cx="4699000" cy="210956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4314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研发体系作为核心引擎，保障了产品的技术领先性，通过高效的商业转化机制，将技术势能转化为实实在在的市场增长动能，为品牌持续创新提供了强劲支撑</a:t>
            </a:r>
            <a:endParaRPr lang="en-US" sz="1600" dirty="0"/>
          </a:p>
        </p:txBody>
      </p:sp>
      <p:cxnSp>
        <p:nvCxnSpPr>
          <p:cNvPr id="26" name="Connector 23">
            <a:extLst>
              <a:ext uri="{FF2B5EF4-FFF2-40B4-BE49-F238E27FC236}">
                <a16:creationId xmlns:a16="http://schemas.microsoft.com/office/drawing/2014/main" id="{52FB6C27-C6F8-62CC-1366-FB86260433B7}"/>
              </a:ext>
            </a:extLst>
          </p:cNvPr>
          <p:cNvCxnSpPr/>
          <p:nvPr/>
        </p:nvCxnSpPr>
        <p:spPr>
          <a:xfrm rot="5391185">
            <a:off x="3683000" y="3994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4">
            <a:extLst>
              <a:ext uri="{FF2B5EF4-FFF2-40B4-BE49-F238E27FC236}">
                <a16:creationId xmlns:a16="http://schemas.microsoft.com/office/drawing/2014/main" id="{18521818-575B-9C74-EB64-947EAF92D8AB}"/>
              </a:ext>
            </a:extLst>
          </p:cNvPr>
          <p:cNvSpPr/>
          <p:nvPr/>
        </p:nvSpPr>
        <p:spPr>
          <a:xfrm>
            <a:off x="6381750" y="1354903"/>
            <a:ext cx="5270500" cy="4953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5">
            <a:extLst>
              <a:ext uri="{FF2B5EF4-FFF2-40B4-BE49-F238E27FC236}">
                <a16:creationId xmlns:a16="http://schemas.microsoft.com/office/drawing/2014/main" id="{6592EC3E-948F-EE9B-0236-9D34A917E8C3}"/>
              </a:ext>
            </a:extLst>
          </p:cNvPr>
          <p:cNvSpPr/>
          <p:nvPr/>
        </p:nvSpPr>
        <p:spPr>
          <a:xfrm>
            <a:off x="6381750" y="1352868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7">
            <a:extLst>
              <a:ext uri="{FF2B5EF4-FFF2-40B4-BE49-F238E27FC236}">
                <a16:creationId xmlns:a16="http://schemas.microsoft.com/office/drawing/2014/main" id="{534A47C8-9470-0574-890E-032D9EB4FF15}"/>
              </a:ext>
            </a:extLst>
          </p:cNvPr>
          <p:cNvSpPr/>
          <p:nvPr/>
        </p:nvSpPr>
        <p:spPr>
          <a:xfrm>
            <a:off x="8636000" y="1704170"/>
            <a:ext cx="2794000" cy="1524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28">
            <a:extLst>
              <a:ext uri="{FF2B5EF4-FFF2-40B4-BE49-F238E27FC236}">
                <a16:creationId xmlns:a16="http://schemas.microsoft.com/office/drawing/2014/main" id="{0729A21E-BEB0-5A30-939A-DE81B91D9DE6}"/>
              </a:ext>
            </a:extLst>
          </p:cNvPr>
          <p:cNvSpPr/>
          <p:nvPr/>
        </p:nvSpPr>
        <p:spPr>
          <a:xfrm>
            <a:off x="8699500" y="1413510"/>
            <a:ext cx="1333500" cy="1126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3大基地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全球产能布局</a:t>
            </a: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29">
            <a:extLst>
              <a:ext uri="{FF2B5EF4-FFF2-40B4-BE49-F238E27FC236}">
                <a16:creationId xmlns:a16="http://schemas.microsoft.com/office/drawing/2014/main" id="{203A6813-473A-FE88-B468-81812A6CB5BA}"/>
              </a:ext>
            </a:extLst>
          </p:cNvPr>
          <p:cNvCxnSpPr/>
          <p:nvPr/>
        </p:nvCxnSpPr>
        <p:spPr>
          <a:xfrm rot="5336345">
            <a:off x="9730103" y="2071946"/>
            <a:ext cx="68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0">
            <a:extLst>
              <a:ext uri="{FF2B5EF4-FFF2-40B4-BE49-F238E27FC236}">
                <a16:creationId xmlns:a16="http://schemas.microsoft.com/office/drawing/2014/main" id="{F2073A08-3535-6064-ED43-23BE98093E61}"/>
              </a:ext>
            </a:extLst>
          </p:cNvPr>
          <p:cNvSpPr/>
          <p:nvPr/>
        </p:nvSpPr>
        <p:spPr>
          <a:xfrm>
            <a:off x="10160000" y="1414145"/>
            <a:ext cx="1270000" cy="11258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FDA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国际标准认证</a:t>
            </a:r>
            <a:endParaRPr lang="en-US" sz="16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1">
            <a:extLst>
              <a:ext uri="{FF2B5EF4-FFF2-40B4-BE49-F238E27FC236}">
                <a16:creationId xmlns:a16="http://schemas.microsoft.com/office/drawing/2014/main" id="{7DC68DDE-E807-FEF8-13BA-3C5A6639BE53}"/>
              </a:ext>
            </a:extLst>
          </p:cNvPr>
          <p:cNvSpPr/>
          <p:nvPr/>
        </p:nvSpPr>
        <p:spPr>
          <a:xfrm>
            <a:off x="8699500" y="26035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自有辐照中心与全链路质控体系，从源头到成品层层把关，保障食品安全与品质</a:t>
            </a:r>
            <a:r>
              <a:rPr lang="en-US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2">
            <a:extLst>
              <a:ext uri="{FF2B5EF4-FFF2-40B4-BE49-F238E27FC236}">
                <a16:creationId xmlns:a16="http://schemas.microsoft.com/office/drawing/2014/main" id="{B275C4E3-5A5A-1A18-558D-594DAC665015}"/>
              </a:ext>
            </a:extLst>
          </p:cNvPr>
          <p:cNvSpPr/>
          <p:nvPr/>
        </p:nvSpPr>
        <p:spPr>
          <a:xfrm>
            <a:off x="6540500" y="3492500"/>
            <a:ext cx="4940300" cy="63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年，利用率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，总产全国第一；在建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万吨，投资合计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亿，货币资金仅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亿。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19951ADD-BA72-D6FA-9793-01C04D98AAF1}"/>
              </a:ext>
            </a:extLst>
          </p:cNvPr>
          <p:cNvSpPr/>
          <p:nvPr/>
        </p:nvSpPr>
        <p:spPr>
          <a:xfrm>
            <a:off x="6604000" y="3420110"/>
            <a:ext cx="2311400" cy="5168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20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4">
            <a:extLst>
              <a:ext uri="{FF2B5EF4-FFF2-40B4-BE49-F238E27FC236}">
                <a16:creationId xmlns:a16="http://schemas.microsoft.com/office/drawing/2014/main" id="{251EED4E-E50C-7560-535B-B683C9D732DA}"/>
              </a:ext>
            </a:extLst>
          </p:cNvPr>
          <p:cNvSpPr/>
          <p:nvPr/>
        </p:nvSpPr>
        <p:spPr>
          <a:xfrm>
            <a:off x="6540500" y="4137830"/>
            <a:ext cx="4889500" cy="1005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履约良好：与沃尔玛合作超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年，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2025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一户一策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共担关税，客户未流失。</a:t>
            </a:r>
          </a:p>
          <a:p>
            <a:pPr marL="0" indent="0" algn="l">
              <a:lnSpc>
                <a:spcPct val="108000"/>
              </a:lnSpc>
              <a:defRPr/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6">
            <a:extLst>
              <a:ext uri="{FF2B5EF4-FFF2-40B4-BE49-F238E27FC236}">
                <a16:creationId xmlns:a16="http://schemas.microsoft.com/office/drawing/2014/main" id="{E384FC9E-D5A2-3C93-0348-A96153AA45F7}"/>
              </a:ext>
            </a:extLst>
          </p:cNvPr>
          <p:cNvSpPr/>
          <p:nvPr/>
        </p:nvSpPr>
        <p:spPr>
          <a:xfrm>
            <a:off x="9169400" y="3420745"/>
            <a:ext cx="2311400" cy="516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20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7">
            <a:extLst>
              <a:ext uri="{FF2B5EF4-FFF2-40B4-BE49-F238E27FC236}">
                <a16:creationId xmlns:a16="http://schemas.microsoft.com/office/drawing/2014/main" id="{8E5394C3-8639-6DCE-25A9-91E8E2398009}"/>
              </a:ext>
            </a:extLst>
          </p:cNvPr>
          <p:cNvSpPr/>
          <p:nvPr/>
        </p:nvSpPr>
        <p:spPr>
          <a:xfrm>
            <a:off x="9169400" y="4064000"/>
            <a:ext cx="2311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38">
            <a:extLst>
              <a:ext uri="{FF2B5EF4-FFF2-40B4-BE49-F238E27FC236}">
                <a16:creationId xmlns:a16="http://schemas.microsoft.com/office/drawing/2014/main" id="{3A21BFEA-F9F6-A1A1-C158-801AD72AE614}"/>
              </a:ext>
            </a:extLst>
          </p:cNvPr>
          <p:cNvSpPr/>
          <p:nvPr/>
        </p:nvSpPr>
        <p:spPr>
          <a:xfrm>
            <a:off x="6540500" y="5028738"/>
            <a:ext cx="4953000" cy="1016000"/>
          </a:xfrm>
          <a:prstGeom prst="roundRect">
            <a:avLst>
              <a:gd name="adj" fmla="val 0"/>
            </a:avLst>
          </a:prstGeom>
          <a:solidFill>
            <a:srgbClr val="D1FAE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39">
            <a:extLst>
              <a:ext uri="{FF2B5EF4-FFF2-40B4-BE49-F238E27FC236}">
                <a16:creationId xmlns:a16="http://schemas.microsoft.com/office/drawing/2014/main" id="{95CA4FA3-438D-DD3D-FAAE-F256A3881768}"/>
              </a:ext>
            </a:extLst>
          </p:cNvPr>
          <p:cNvSpPr/>
          <p:nvPr/>
        </p:nvSpPr>
        <p:spPr>
          <a:xfrm>
            <a:off x="6629400" y="5101403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生产端以“全球布局+极致质控”双轮</a:t>
            </a:r>
            <a:r>
              <a:rPr lang="en-US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==&gt;，</a:t>
            </a:r>
            <a:r>
              <a:rPr lang="en-US" sz="16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形成了规模化的成本优势，以严苛的标准建立了消费者信任，是公司高端产品战略得以稳定落地的坚实后盾</a:t>
            </a:r>
            <a:r>
              <a:rPr lang="en-US" sz="16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40893EF-A6B7-4FB1-A1A0-EBDF1BE915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81"/>
          <a:stretch>
            <a:fillRect/>
          </a:stretch>
        </p:blipFill>
        <p:spPr>
          <a:xfrm>
            <a:off x="6443961" y="1659466"/>
            <a:ext cx="2210301" cy="1697144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0400858C-F4CB-2911-2C84-2CEE61B2011F}"/>
              </a:ext>
            </a:extLst>
          </p:cNvPr>
          <p:cNvSpPr txBox="1"/>
          <p:nvPr/>
        </p:nvSpPr>
        <p:spPr>
          <a:xfrm>
            <a:off x="952500" y="4428460"/>
            <a:ext cx="498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供应商集中度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18.1%**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：单家最大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4.6%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，鸡肉自供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圣农长约锁价，依赖度极低</a:t>
            </a:r>
          </a:p>
        </p:txBody>
      </p:sp>
    </p:spTree>
    <p:extLst>
      <p:ext uri="{BB962C8B-B14F-4D97-AF65-F5344CB8AC3E}">
        <p14:creationId xmlns:p14="http://schemas.microsoft.com/office/powerpoint/2010/main" val="2149922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4DCD48DE-464E-5BFB-1520-35A7475A76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537" y="4147017"/>
            <a:ext cx="5609463" cy="2007598"/>
          </a:xfrm>
          <a:prstGeom prst="rect">
            <a:avLst/>
          </a:prstGeom>
        </p:spPr>
      </p:pic>
      <p:sp>
        <p:nvSpPr>
          <p:cNvPr id="22" name="AutoShape 5">
            <a:extLst>
              <a:ext uri="{FF2B5EF4-FFF2-40B4-BE49-F238E27FC236}">
                <a16:creationId xmlns:a16="http://schemas.microsoft.com/office/drawing/2014/main" id="{FE39DF50-4751-49D0-7144-483F8338C79F}"/>
              </a:ext>
            </a:extLst>
          </p:cNvPr>
          <p:cNvSpPr/>
          <p:nvPr/>
        </p:nvSpPr>
        <p:spPr>
          <a:xfrm>
            <a:off x="6612025" y="1106999"/>
            <a:ext cx="5300989" cy="512445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2FB5CA-779F-3FC8-0AB0-67C73B829BDF}"/>
              </a:ext>
            </a:extLst>
          </p:cNvPr>
          <p:cNvSpPr txBox="1"/>
          <p:nvPr/>
        </p:nvSpPr>
        <p:spPr>
          <a:xfrm>
            <a:off x="687129" y="455987"/>
            <a:ext cx="6095114" cy="651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charset="0"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企业竞争力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财务管理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7FE0243D-255C-7CB2-D6F7-CCC7239CDC09}"/>
              </a:ext>
            </a:extLst>
          </p:cNvPr>
          <p:cNvSpPr/>
          <p:nvPr/>
        </p:nvSpPr>
        <p:spPr>
          <a:xfrm>
            <a:off x="486537" y="1471669"/>
            <a:ext cx="5609464" cy="4682945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9C79437B-B051-E7A2-EBB3-97D3B257ADF7}"/>
              </a:ext>
            </a:extLst>
          </p:cNvPr>
          <p:cNvSpPr/>
          <p:nvPr/>
        </p:nvSpPr>
        <p:spPr>
          <a:xfrm flipV="1">
            <a:off x="486537" y="1339080"/>
            <a:ext cx="5609464" cy="100166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6" name="Connector 9">
            <a:extLst>
              <a:ext uri="{FF2B5EF4-FFF2-40B4-BE49-F238E27FC236}">
                <a16:creationId xmlns:a16="http://schemas.microsoft.com/office/drawing/2014/main" id="{793C6485-2526-2DC3-DE85-29ED8EBC3B40}"/>
              </a:ext>
            </a:extLst>
          </p:cNvPr>
          <p:cNvCxnSpPr>
            <a:cxnSpLocks/>
          </p:cNvCxnSpPr>
          <p:nvPr/>
        </p:nvCxnSpPr>
        <p:spPr>
          <a:xfrm>
            <a:off x="687129" y="2122850"/>
            <a:ext cx="8407948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D858431-93AE-BBAB-CAA5-7251BD39E318}"/>
              </a:ext>
            </a:extLst>
          </p:cNvPr>
          <p:cNvSpPr txBox="1"/>
          <p:nvPr/>
        </p:nvSpPr>
        <p:spPr>
          <a:xfrm>
            <a:off x="600914" y="2283160"/>
            <a:ext cx="55606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实控人秦华持股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54%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且质押率为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月增持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亿回购，股权结构稳定。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秦华从业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OEM→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品牌→高端化全周期；近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年营收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CAGR 30%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，战略执行力获业绩验证。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境外员工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2,383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人（占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53.9%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），泰国管控有效；新西兰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亿长周期项目管控能力待验证。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无股权质押。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872031-4056-FE8A-1311-A5758537FB72}"/>
              </a:ext>
            </a:extLst>
          </p:cNvPr>
          <p:cNvSpPr txBox="1"/>
          <p:nvPr/>
        </p:nvSpPr>
        <p:spPr>
          <a:xfrm>
            <a:off x="687129" y="1643134"/>
            <a:ext cx="4003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股权稳定性</a:t>
            </a:r>
          </a:p>
        </p:txBody>
      </p:sp>
      <p:sp>
        <p:nvSpPr>
          <p:cNvPr id="13" name="AutoShape 16">
            <a:extLst>
              <a:ext uri="{FF2B5EF4-FFF2-40B4-BE49-F238E27FC236}">
                <a16:creationId xmlns:a16="http://schemas.microsoft.com/office/drawing/2014/main" id="{634F5D35-31CF-B3F6-A794-AC6502F633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32354" y="1106999"/>
            <a:ext cx="5280660" cy="1637665"/>
          </a:xfrm>
          <a:prstGeom prst="roundRect">
            <a:avLst>
              <a:gd name="adj" fmla="val 2820"/>
            </a:avLst>
          </a:prstGeom>
          <a:solidFill>
            <a:srgbClr val="3B82F6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7">
            <a:extLst>
              <a:ext uri="{FF2B5EF4-FFF2-40B4-BE49-F238E27FC236}">
                <a16:creationId xmlns:a16="http://schemas.microsoft.com/office/drawing/2014/main" id="{BC8F80D5-83B3-07BA-DFEB-D0036C7915B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759354" y="1035244"/>
            <a:ext cx="5026025" cy="653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资本后盾：雄厚的资金与造血能力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8">
            <a:extLst>
              <a:ext uri="{FF2B5EF4-FFF2-40B4-BE49-F238E27FC236}">
                <a16:creationId xmlns:a16="http://schemas.microsoft.com/office/drawing/2014/main" id="{C0A6C041-F110-8B1A-6AB1-E1385A656C4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759599" y="1790603"/>
            <a:ext cx="5026170" cy="8270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2023年成功上市融资超12.8亿元，资本储备充裕；同时经营性现金流持续保持正向增长。充沛的现金流为公司激进的营销投放、产能扩张及市场扩张战略提供了坚实的“弹药库”，支撑业务的快速扩张。</a:t>
            </a:r>
          </a:p>
        </p:txBody>
      </p:sp>
      <p:sp>
        <p:nvSpPr>
          <p:cNvPr id="16" name="AutoShape 19">
            <a:extLst>
              <a:ext uri="{FF2B5EF4-FFF2-40B4-BE49-F238E27FC236}">
                <a16:creationId xmlns:a16="http://schemas.microsoft.com/office/drawing/2014/main" id="{B0F7EFBF-346D-FC49-112D-C46800D7A83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632354" y="2834011"/>
            <a:ext cx="5280660" cy="1577528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CC47C60A-DAC4-74A7-6C70-9E11C5FA770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759599" y="2935807"/>
            <a:ext cx="5026170" cy="3053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65F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盈利跃升：产品结构</a:t>
            </a:r>
            <a:r>
              <a:rPr lang="en-US" sz="1800" b="1" i="0" u="none" strike="noStrike" dirty="0">
                <a:solidFill>
                  <a:srgbClr val="065F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==&gt;</a:t>
            </a:r>
            <a:r>
              <a:rPr lang="en-US" sz="1800" b="1" i="0" u="none" strike="noStrike" dirty="0" err="1">
                <a:solidFill>
                  <a:srgbClr val="065F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毛利上行</a:t>
            </a:r>
            <a:endParaRPr lang="en-US" sz="1800" b="1" i="0" u="none" strike="noStrike" dirty="0">
              <a:solidFill>
                <a:srgbClr val="065F4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21">
            <a:extLst>
              <a:ext uri="{FF2B5EF4-FFF2-40B4-BE49-F238E27FC236}">
                <a16:creationId xmlns:a16="http://schemas.microsoft.com/office/drawing/2014/main" id="{527A5296-7A13-22CF-8C38-086B93BAC61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759354" y="3469199"/>
            <a:ext cx="5026025" cy="7010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产品高端化与供应链优化成效显著，毛利率从2023年的36.84%大幅跃升至2024-2025年的42%以上。高附加值产品占比的提升有效对冲了成本压力，展现出强劲的内生盈利能力和产品定价权。</a:t>
            </a:r>
          </a:p>
        </p:txBody>
      </p:sp>
      <p:sp>
        <p:nvSpPr>
          <p:cNvPr id="19" name="AutoShape 22">
            <a:extLst>
              <a:ext uri="{FF2B5EF4-FFF2-40B4-BE49-F238E27FC236}">
                <a16:creationId xmlns:a16="http://schemas.microsoft.com/office/drawing/2014/main" id="{A6764AE6-3FB8-C90F-481A-948FCEEDECC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632354" y="4488374"/>
            <a:ext cx="5280660" cy="1743075"/>
          </a:xfrm>
          <a:prstGeom prst="roundRect">
            <a:avLst>
              <a:gd name="adj" fmla="val 0"/>
            </a:avLst>
          </a:prstGeom>
          <a:solidFill>
            <a:srgbClr val="EF4444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3">
            <a:extLst>
              <a:ext uri="{FF2B5EF4-FFF2-40B4-BE49-F238E27FC236}">
                <a16:creationId xmlns:a16="http://schemas.microsoft.com/office/drawing/2014/main" id="{07C47B36-7133-B87E-F22B-B8F3C2ED2FE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759354" y="4501074"/>
            <a:ext cx="5026025" cy="410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91B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成长阵痛：投入前置下的短期业绩波动</a:t>
            </a: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1297454C-6B7D-14D0-EE29-7CF02C1D266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759354" y="4908109"/>
            <a:ext cx="5026025" cy="1246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为抢占市场份额，前置的营销费用与新产线折旧导致净利率阶段性承压。2026年Q1净利润与现金流的短期波动，是“烧钱换规模”战略下的正常现象，随着规模效应释放与品牌护城河加深，盈利水平有望逐步修复。</a:t>
            </a:r>
          </a:p>
        </p:txBody>
      </p:sp>
    </p:spTree>
    <p:extLst>
      <p:ext uri="{BB962C8B-B14F-4D97-AF65-F5344CB8AC3E}">
        <p14:creationId xmlns:p14="http://schemas.microsoft.com/office/powerpoint/2010/main" val="4333050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9.19397590361433,&quot;left&quot;:490,&quot;top&quot;:100.6,&quot;width&quot;:415.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>
            <a:alpha val="45000"/>
          </a:srgbClr>
        </a:solidFill>
        <a:ln w="25400" cap="flat" cmpd="sng">
          <a:noFill/>
          <a:prstDash val="solid"/>
          <a:round/>
        </a:ln>
      </a:spPr>
      <a:bodyPr vert="horz" wrap="square" lIns="63500" tIns="63500" rIns="63500" bIns="63500" rtlCol="0" anchor="ctr"/>
      <a:lstStyle>
        <a:defPPr algn="ctr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648</Words>
  <Application>Microsoft Office PowerPoint</Application>
  <PresentationFormat>宽屏</PresentationFormat>
  <Paragraphs>58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Noto Sans SC</vt:lpstr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luying shi</dc:creator>
  <cp:lastModifiedBy>luying shi</cp:lastModifiedBy>
  <cp:revision>5</cp:revision>
  <dcterms:created xsi:type="dcterms:W3CDTF">1900-01-01T00:00:00Z</dcterms:created>
  <dcterms:modified xsi:type="dcterms:W3CDTF">2026-06-24T13:04:28Z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{"Label":"1","ContentProducer":"001191110102MACQD9K64010000","ProduceID":"7653510705054764004","ReservedCode1":"","ContentPropagator":"","PropagateID":"","ReservedCode2":""}</vt:lpwstr>
  </property>
  <property fmtid="{D5CDD505-2E9C-101B-9397-08002B2CF9AE}" pid="3" name="ICV">
    <vt:lpwstr>0466A08435D70DE447BC366ACFCDD3C4_32</vt:lpwstr>
  </property>
  <property fmtid="{D5CDD505-2E9C-101B-9397-08002B2CF9AE}" pid="4" name="KSOProductBuildVer">
    <vt:lpwstr>2052-12.45.1</vt:lpwstr>
  </property>
</Properties>
</file>